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6858000" cy="9144000"/>
  <p:embeddedFontLst>
    <p:embeddedFont>
      <p:font typeface="Montserrat"/>
      <p:regular r:id="rId14"/>
      <p:bold r:id="rId15"/>
      <p:italic r:id="rId16"/>
      <p:boldItalic r:id="rId17"/>
    </p:embeddedFont>
    <p:embeddedFont>
      <p:font typeface="Lato"/>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ato-italic.fntdata"/><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font" Target="fonts/Lato-bold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Montserrat-bold.fntdata"/><Relationship Id="rId14" Type="http://schemas.openxmlformats.org/officeDocument/2006/relationships/font" Target="fonts/Montserrat-regular.fntdata"/><Relationship Id="rId17" Type="http://schemas.openxmlformats.org/officeDocument/2006/relationships/font" Target="fonts/Montserrat-boldItalic.fntdata"/><Relationship Id="rId16" Type="http://schemas.openxmlformats.org/officeDocument/2006/relationships/font" Target="fonts/Montserrat-italic.fntdata"/><Relationship Id="rId5" Type="http://schemas.openxmlformats.org/officeDocument/2006/relationships/notesMaster" Target="notesMasters/notesMaster1.xml"/><Relationship Id="rId19" Type="http://schemas.openxmlformats.org/officeDocument/2006/relationships/font" Target="fonts/Lato-bold.fntdata"/><Relationship Id="rId6" Type="http://schemas.openxmlformats.org/officeDocument/2006/relationships/slide" Target="slides/slide1.xml"/><Relationship Id="rId18" Type="http://schemas.openxmlformats.org/officeDocument/2006/relationships/font" Target="fonts/Lato-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1264efe4eaa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1264efe4eaa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1264efe4eaa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1264efe4eaa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1264efe4eaa_0_1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1264efe4eaa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1264efe4eaa_0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1264efe4eaa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1264efe4eaa_0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1264efe4eaa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1264efe4eaa_0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1264efe4eaa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1264efe4eaa_0_2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1264efe4eaa_0_2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jpg"/><Relationship Id="rId4" Type="http://schemas.openxmlformats.org/officeDocument/2006/relationships/image" Target="../media/image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jp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3"/>
          <p:cNvSpPr txBox="1"/>
          <p:nvPr>
            <p:ph type="ctrTitle"/>
          </p:nvPr>
        </p:nvSpPr>
        <p:spPr>
          <a:xfrm>
            <a:off x="3493375" y="1723950"/>
            <a:ext cx="5017500" cy="157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6200"/>
              <a:t>Laterite Soil</a:t>
            </a:r>
            <a:endParaRPr sz="6200"/>
          </a:p>
        </p:txBody>
      </p:sp>
      <p:sp>
        <p:nvSpPr>
          <p:cNvPr id="135" name="Google Shape;135;p13"/>
          <p:cNvSpPr txBox="1"/>
          <p:nvPr>
            <p:ph idx="1" type="subTitle"/>
          </p:nvPr>
        </p:nvSpPr>
        <p:spPr>
          <a:xfrm>
            <a:off x="6003250" y="2571750"/>
            <a:ext cx="3470700" cy="506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Resources and Development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4"/>
          <p:cNvSpPr txBox="1"/>
          <p:nvPr>
            <p:ph type="title"/>
          </p:nvPr>
        </p:nvSpPr>
        <p:spPr>
          <a:xfrm>
            <a:off x="1297500" y="576125"/>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900"/>
              <a:t>What is Laterite Soil ?</a:t>
            </a:r>
            <a:endParaRPr sz="3900"/>
          </a:p>
        </p:txBody>
      </p:sp>
      <p:sp>
        <p:nvSpPr>
          <p:cNvPr id="141" name="Google Shape;141;p14"/>
          <p:cNvSpPr txBox="1"/>
          <p:nvPr>
            <p:ph idx="1" type="body"/>
          </p:nvPr>
        </p:nvSpPr>
        <p:spPr>
          <a:xfrm>
            <a:off x="1345125" y="1559600"/>
            <a:ext cx="7038900" cy="1718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800"/>
              <a:t>Lateritic soils are sometimes used as an iron ore and source of nickel, they are widely used as construction materials for houses,roads,dam embankment, landfills and flexible pavement foundations</a:t>
            </a:r>
            <a:endParaRPr sz="1800"/>
          </a:p>
          <a:p>
            <a:pPr indent="0" lvl="0" marL="0" rtl="0" algn="l">
              <a:spcBef>
                <a:spcPts val="0"/>
              </a:spcBef>
              <a:spcAft>
                <a:spcPts val="0"/>
              </a:spcAft>
              <a:buNone/>
            </a:pPr>
            <a:r>
              <a:rPr lang="en" sz="1800"/>
              <a:t>And 4.30% total India’s Soil </a:t>
            </a:r>
            <a:endParaRPr sz="1800"/>
          </a:p>
        </p:txBody>
      </p:sp>
      <p:pic>
        <p:nvPicPr>
          <p:cNvPr id="142" name="Google Shape;142;p14"/>
          <p:cNvPicPr preferRelativeResize="0"/>
          <p:nvPr/>
        </p:nvPicPr>
        <p:blipFill>
          <a:blip r:embed="rId3">
            <a:alphaModFix/>
          </a:blip>
          <a:stretch>
            <a:fillRect/>
          </a:stretch>
        </p:blipFill>
        <p:spPr>
          <a:xfrm>
            <a:off x="5261525" y="3105075"/>
            <a:ext cx="2582750" cy="1718700"/>
          </a:xfrm>
          <a:prstGeom prst="rect">
            <a:avLst/>
          </a:prstGeom>
          <a:noFill/>
          <a:ln>
            <a:noFill/>
          </a:ln>
        </p:spPr>
      </p:pic>
      <p:pic>
        <p:nvPicPr>
          <p:cNvPr id="143" name="Google Shape;143;p14"/>
          <p:cNvPicPr preferRelativeResize="0"/>
          <p:nvPr/>
        </p:nvPicPr>
        <p:blipFill>
          <a:blip r:embed="rId4">
            <a:alphaModFix/>
          </a:blip>
          <a:stretch>
            <a:fillRect/>
          </a:stretch>
        </p:blipFill>
        <p:spPr>
          <a:xfrm rot="-5400000">
            <a:off x="2144738" y="2666913"/>
            <a:ext cx="1743075" cy="26193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5"/>
          <p:cNvSpPr txBox="1"/>
          <p:nvPr>
            <p:ph type="title"/>
          </p:nvPr>
        </p:nvSpPr>
        <p:spPr>
          <a:xfrm>
            <a:off x="1186350" y="653450"/>
            <a:ext cx="75291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700"/>
              <a:t>What do You mean by the Name ‘Laterite’</a:t>
            </a:r>
            <a:endParaRPr sz="2700"/>
          </a:p>
        </p:txBody>
      </p:sp>
      <p:sp>
        <p:nvSpPr>
          <p:cNvPr id="149" name="Google Shape;149;p15"/>
          <p:cNvSpPr txBox="1"/>
          <p:nvPr>
            <p:ph idx="1" type="body"/>
          </p:nvPr>
        </p:nvSpPr>
        <p:spPr>
          <a:xfrm>
            <a:off x="1431450" y="2020000"/>
            <a:ext cx="7038900" cy="149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2700"/>
              <a:t>Laterite has been derived from the Latin word </a:t>
            </a:r>
            <a:r>
              <a:rPr i="1" lang="en" sz="2700"/>
              <a:t>‘later’ </a:t>
            </a:r>
            <a:r>
              <a:rPr lang="en" sz="2700"/>
              <a:t>which means brick.</a:t>
            </a:r>
            <a:r>
              <a:rPr lang="en" sz="1700"/>
              <a:t> </a:t>
            </a:r>
            <a:endParaRPr sz="17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1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400"/>
              <a:t>How laterite Soil is formed ?</a:t>
            </a:r>
            <a:endParaRPr sz="3400"/>
          </a:p>
        </p:txBody>
      </p:sp>
      <p:sp>
        <p:nvSpPr>
          <p:cNvPr id="155" name="Google Shape;155;p16"/>
          <p:cNvSpPr txBox="1"/>
          <p:nvPr>
            <p:ph idx="1" type="body"/>
          </p:nvPr>
        </p:nvSpPr>
        <p:spPr>
          <a:xfrm>
            <a:off x="1400700" y="1472300"/>
            <a:ext cx="46557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sz="1400"/>
              <a:t>The laterite soil develops under tropical and subtropical climate with alternate wet and dry season.</a:t>
            </a:r>
            <a:endParaRPr sz="1400"/>
          </a:p>
        </p:txBody>
      </p:sp>
      <p:sp>
        <p:nvSpPr>
          <p:cNvPr id="156" name="Google Shape;156;p16"/>
          <p:cNvSpPr txBox="1"/>
          <p:nvPr/>
        </p:nvSpPr>
        <p:spPr>
          <a:xfrm>
            <a:off x="1297500" y="2730500"/>
            <a:ext cx="7038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Lato"/>
              <a:ea typeface="Lato"/>
              <a:cs typeface="Lato"/>
              <a:sym typeface="Lato"/>
            </a:endParaRPr>
          </a:p>
        </p:txBody>
      </p:sp>
      <p:pic>
        <p:nvPicPr>
          <p:cNvPr id="157" name="Google Shape;157;p16"/>
          <p:cNvPicPr preferRelativeResize="0"/>
          <p:nvPr/>
        </p:nvPicPr>
        <p:blipFill>
          <a:blip r:embed="rId3">
            <a:alphaModFix/>
          </a:blip>
          <a:stretch>
            <a:fillRect/>
          </a:stretch>
        </p:blipFill>
        <p:spPr>
          <a:xfrm>
            <a:off x="5842000" y="1472300"/>
            <a:ext cx="3040075" cy="3018375"/>
          </a:xfrm>
          <a:prstGeom prst="rect">
            <a:avLst/>
          </a:prstGeom>
          <a:noFill/>
          <a:ln>
            <a:noFill/>
          </a:ln>
        </p:spPr>
      </p:pic>
      <p:sp>
        <p:nvSpPr>
          <p:cNvPr id="158" name="Google Shape;158;p16"/>
          <p:cNvSpPr txBox="1"/>
          <p:nvPr/>
        </p:nvSpPr>
        <p:spPr>
          <a:xfrm>
            <a:off x="1400700" y="2263950"/>
            <a:ext cx="41433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latin typeface="Lato"/>
                <a:ea typeface="Lato"/>
                <a:cs typeface="Lato"/>
                <a:sym typeface="Lato"/>
              </a:rPr>
              <a:t>This soil is the result of intense leaching due to heavy rain</a:t>
            </a:r>
            <a:endParaRPr>
              <a:solidFill>
                <a:schemeClr val="lt1"/>
              </a:solidFill>
              <a:latin typeface="Lato"/>
              <a:ea typeface="Lato"/>
              <a:cs typeface="Lato"/>
              <a:sym typeface="Lato"/>
            </a:endParaRPr>
          </a:p>
        </p:txBody>
      </p:sp>
      <p:sp>
        <p:nvSpPr>
          <p:cNvPr id="159" name="Google Shape;159;p16"/>
          <p:cNvSpPr txBox="1"/>
          <p:nvPr/>
        </p:nvSpPr>
        <p:spPr>
          <a:xfrm>
            <a:off x="1440400" y="3167075"/>
            <a:ext cx="3770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lt1"/>
                </a:solidFill>
                <a:latin typeface="Lato"/>
                <a:ea typeface="Lato"/>
                <a:cs typeface="Lato"/>
                <a:sym typeface="Lato"/>
              </a:rPr>
              <a:t>Leaching</a:t>
            </a:r>
            <a:endParaRPr b="1">
              <a:solidFill>
                <a:schemeClr val="lt1"/>
              </a:solidFill>
              <a:latin typeface="Lato"/>
              <a:ea typeface="Lato"/>
              <a:cs typeface="Lato"/>
              <a:sym typeface="Lato"/>
            </a:endParaRPr>
          </a:p>
        </p:txBody>
      </p:sp>
      <p:sp>
        <p:nvSpPr>
          <p:cNvPr id="160" name="Google Shape;160;p16"/>
          <p:cNvSpPr txBox="1"/>
          <p:nvPr/>
        </p:nvSpPr>
        <p:spPr>
          <a:xfrm>
            <a:off x="1440400" y="3474800"/>
            <a:ext cx="3770400" cy="1154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latin typeface="Lato"/>
                <a:ea typeface="Lato"/>
                <a:cs typeface="Lato"/>
                <a:sym typeface="Lato"/>
              </a:rPr>
              <a:t>leaching is the loss of water-soluble plant nutrients from the soil, due to rain and irrigation.</a:t>
            </a:r>
            <a:endParaRPr>
              <a:solidFill>
                <a:schemeClr val="lt1"/>
              </a:solidFill>
              <a:latin typeface="Lato"/>
              <a:ea typeface="Lato"/>
              <a:cs typeface="Lato"/>
              <a:sym typeface="Lato"/>
            </a:endParaRPr>
          </a:p>
          <a:p>
            <a:pPr indent="0" lvl="0" marL="0" rtl="0" algn="l">
              <a:spcBef>
                <a:spcPts val="0"/>
              </a:spcBef>
              <a:spcAft>
                <a:spcPts val="0"/>
              </a:spcAft>
              <a:buNone/>
            </a:pPr>
            <a:r>
              <a:t/>
            </a:r>
            <a:endParaRPr sz="1050">
              <a:solidFill>
                <a:srgbClr val="4D5156"/>
              </a:solidFill>
              <a:highlight>
                <a:srgbClr val="FFFFFF"/>
              </a:highlight>
            </a:endParaRPr>
          </a:p>
          <a:p>
            <a:pPr indent="0" lvl="0" marL="0" rtl="0" algn="l">
              <a:spcBef>
                <a:spcPts val="0"/>
              </a:spcBef>
              <a:spcAft>
                <a:spcPts val="0"/>
              </a:spcAft>
              <a:buNone/>
            </a:pPr>
            <a:r>
              <a:t/>
            </a:r>
            <a:endParaRPr sz="1050">
              <a:solidFill>
                <a:srgbClr val="4D5156"/>
              </a:solidFill>
              <a:highlight>
                <a:srgbClr val="FFFFFF"/>
              </a:highligh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7"/>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PH Level</a:t>
            </a:r>
            <a:endParaRPr/>
          </a:p>
        </p:txBody>
      </p:sp>
      <p:sp>
        <p:nvSpPr>
          <p:cNvPr id="166" name="Google Shape;166;p17"/>
          <p:cNvSpPr txBox="1"/>
          <p:nvPr>
            <p:ph idx="1" type="body"/>
          </p:nvPr>
        </p:nvSpPr>
        <p:spPr>
          <a:xfrm>
            <a:off x="1440375" y="1123050"/>
            <a:ext cx="7038900" cy="948600"/>
          </a:xfrm>
          <a:prstGeom prst="rect">
            <a:avLst/>
          </a:prstGeom>
        </p:spPr>
        <p:txBody>
          <a:bodyPr anchorCtr="0" anchor="t" bIns="91425" lIns="91425" spcFirstLastPara="1" rIns="91425" wrap="square" tIns="91425">
            <a:normAutofit fontScale="92500"/>
          </a:bodyPr>
          <a:lstStyle/>
          <a:p>
            <a:pPr indent="0" lvl="0" marL="0" rtl="0" algn="l">
              <a:spcBef>
                <a:spcPts val="0"/>
              </a:spcBef>
              <a:spcAft>
                <a:spcPts val="1200"/>
              </a:spcAft>
              <a:buNone/>
            </a:pPr>
            <a:r>
              <a:rPr lang="en" sz="1900"/>
              <a:t>Lateritic soils are mostly deep to very deep, acidic (pH&lt;6.0), generally deficient in plant nutrients and occur mostly in southern states,</a:t>
            </a:r>
            <a:endParaRPr sz="1900"/>
          </a:p>
        </p:txBody>
      </p:sp>
      <p:pic>
        <p:nvPicPr>
          <p:cNvPr id="167" name="Google Shape;167;p17"/>
          <p:cNvPicPr preferRelativeResize="0"/>
          <p:nvPr/>
        </p:nvPicPr>
        <p:blipFill>
          <a:blip r:embed="rId3">
            <a:alphaModFix/>
          </a:blip>
          <a:stretch>
            <a:fillRect/>
          </a:stretch>
        </p:blipFill>
        <p:spPr>
          <a:xfrm>
            <a:off x="969950" y="2200225"/>
            <a:ext cx="7509321" cy="27670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8"/>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600"/>
              <a:t>Location</a:t>
            </a:r>
            <a:endParaRPr sz="3600"/>
          </a:p>
        </p:txBody>
      </p:sp>
      <p:sp>
        <p:nvSpPr>
          <p:cNvPr id="173" name="Google Shape;173;p18"/>
          <p:cNvSpPr txBox="1"/>
          <p:nvPr>
            <p:ph idx="1" type="body"/>
          </p:nvPr>
        </p:nvSpPr>
        <p:spPr>
          <a:xfrm>
            <a:off x="1297500" y="1591350"/>
            <a:ext cx="7038900" cy="29112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lang="en" sz="1400"/>
              <a:t>Western Ghats region of Maharashtra, </a:t>
            </a:r>
            <a:endParaRPr sz="1400"/>
          </a:p>
          <a:p>
            <a:pPr indent="0" lvl="0" marL="0" rtl="0" algn="l">
              <a:lnSpc>
                <a:spcPct val="100000"/>
              </a:lnSpc>
              <a:spcBef>
                <a:spcPts val="0"/>
              </a:spcBef>
              <a:spcAft>
                <a:spcPts val="0"/>
              </a:spcAft>
              <a:buNone/>
            </a:pPr>
            <a:r>
              <a:rPr lang="en" sz="1400"/>
              <a:t>Odisha, some parts of West Bengal and </a:t>
            </a:r>
            <a:endParaRPr sz="1400"/>
          </a:p>
          <a:p>
            <a:pPr indent="0" lvl="0" marL="0" rtl="0" algn="l">
              <a:lnSpc>
                <a:spcPct val="100000"/>
              </a:lnSpc>
              <a:spcBef>
                <a:spcPts val="0"/>
              </a:spcBef>
              <a:spcAft>
                <a:spcPts val="0"/>
              </a:spcAft>
              <a:buNone/>
            </a:pPr>
            <a:r>
              <a:rPr lang="en" sz="1400"/>
              <a:t>North-east regions</a:t>
            </a:r>
            <a:endParaRPr sz="1400"/>
          </a:p>
        </p:txBody>
      </p:sp>
      <p:pic>
        <p:nvPicPr>
          <p:cNvPr id="174" name="Google Shape;174;p18"/>
          <p:cNvPicPr preferRelativeResize="0"/>
          <p:nvPr/>
        </p:nvPicPr>
        <p:blipFill>
          <a:blip r:embed="rId3">
            <a:alphaModFix/>
          </a:blip>
          <a:stretch>
            <a:fillRect/>
          </a:stretch>
        </p:blipFill>
        <p:spPr>
          <a:xfrm>
            <a:off x="4617524" y="341325"/>
            <a:ext cx="3835950" cy="45648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19"/>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000"/>
              <a:t>Vegetation</a:t>
            </a:r>
            <a:endParaRPr sz="3000"/>
          </a:p>
        </p:txBody>
      </p:sp>
      <p:sp>
        <p:nvSpPr>
          <p:cNvPr id="180" name="Google Shape;180;p19"/>
          <p:cNvSpPr txBox="1"/>
          <p:nvPr>
            <p:ph idx="1" type="body"/>
          </p:nvPr>
        </p:nvSpPr>
        <p:spPr>
          <a:xfrm>
            <a:off x="1408650" y="1307850"/>
            <a:ext cx="7038900" cy="3375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500"/>
              <a:t>D</a:t>
            </a:r>
            <a:r>
              <a:rPr lang="en" sz="1500"/>
              <a:t>eciduous and evergreen forests, it is humus rich</a:t>
            </a:r>
            <a:endParaRPr sz="1500"/>
          </a:p>
          <a:p>
            <a:pPr indent="0" lvl="0" marL="0" rtl="0" algn="l">
              <a:spcBef>
                <a:spcPts val="0"/>
              </a:spcBef>
              <a:spcAft>
                <a:spcPts val="0"/>
              </a:spcAft>
              <a:buNone/>
            </a:pPr>
            <a:r>
              <a:rPr lang="en" sz="1500"/>
              <a:t>Under sparse vegetation and in semi-arid environment, it is generally humus poor</a:t>
            </a:r>
            <a:endParaRPr sz="1500"/>
          </a:p>
          <a:p>
            <a:pPr indent="0" lvl="0" marL="0" rtl="0" algn="l">
              <a:spcBef>
                <a:spcPts val="0"/>
              </a:spcBef>
              <a:spcAft>
                <a:spcPts val="0"/>
              </a:spcAft>
              <a:buNone/>
            </a:pPr>
            <a:r>
              <a:t/>
            </a:r>
            <a:endParaRPr/>
          </a:p>
          <a:p>
            <a:pPr indent="0" lvl="0" marL="0" rtl="0" algn="l">
              <a:spcBef>
                <a:spcPts val="0"/>
              </a:spcBef>
              <a:spcAft>
                <a:spcPts val="1200"/>
              </a:spcAft>
              <a:buNone/>
            </a:pPr>
            <a:r>
              <a:t/>
            </a:r>
            <a:endParaRPr/>
          </a:p>
        </p:txBody>
      </p:sp>
      <p:sp>
        <p:nvSpPr>
          <p:cNvPr id="181" name="Google Shape;181;p19"/>
          <p:cNvSpPr txBox="1"/>
          <p:nvPr/>
        </p:nvSpPr>
        <p:spPr>
          <a:xfrm>
            <a:off x="1524000" y="2246300"/>
            <a:ext cx="22383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300">
                <a:solidFill>
                  <a:schemeClr val="lt1"/>
                </a:solidFill>
                <a:latin typeface="Lato"/>
                <a:ea typeface="Lato"/>
                <a:cs typeface="Lato"/>
                <a:sym typeface="Lato"/>
              </a:rPr>
              <a:t>Rich In</a:t>
            </a:r>
            <a:endParaRPr sz="2300">
              <a:solidFill>
                <a:schemeClr val="lt1"/>
              </a:solidFill>
              <a:latin typeface="Lato"/>
              <a:ea typeface="Lato"/>
              <a:cs typeface="Lato"/>
              <a:sym typeface="Lato"/>
            </a:endParaRPr>
          </a:p>
        </p:txBody>
      </p:sp>
      <p:sp>
        <p:nvSpPr>
          <p:cNvPr id="182" name="Google Shape;182;p19"/>
          <p:cNvSpPr txBox="1"/>
          <p:nvPr/>
        </p:nvSpPr>
        <p:spPr>
          <a:xfrm>
            <a:off x="4904225" y="2277200"/>
            <a:ext cx="19686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solidFill>
                  <a:schemeClr val="lt1"/>
                </a:solidFill>
                <a:latin typeface="Lato"/>
                <a:ea typeface="Lato"/>
                <a:cs typeface="Lato"/>
                <a:sym typeface="Lato"/>
              </a:rPr>
              <a:t>Deficient</a:t>
            </a:r>
            <a:r>
              <a:rPr lang="en" sz="1900">
                <a:solidFill>
                  <a:schemeClr val="lt1"/>
                </a:solidFill>
                <a:latin typeface="Lato"/>
                <a:ea typeface="Lato"/>
                <a:cs typeface="Lato"/>
                <a:sym typeface="Lato"/>
              </a:rPr>
              <a:t> in</a:t>
            </a:r>
            <a:endParaRPr sz="1900">
              <a:solidFill>
                <a:schemeClr val="lt1"/>
              </a:solidFill>
              <a:latin typeface="Lato"/>
              <a:ea typeface="Lato"/>
              <a:cs typeface="Lato"/>
              <a:sym typeface="Lato"/>
            </a:endParaRPr>
          </a:p>
        </p:txBody>
      </p:sp>
      <p:sp>
        <p:nvSpPr>
          <p:cNvPr id="183" name="Google Shape;183;p19"/>
          <p:cNvSpPr txBox="1"/>
          <p:nvPr/>
        </p:nvSpPr>
        <p:spPr>
          <a:xfrm>
            <a:off x="1579575" y="2865450"/>
            <a:ext cx="1206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Lato"/>
              <a:ea typeface="Lato"/>
              <a:cs typeface="Lato"/>
              <a:sym typeface="Lato"/>
            </a:endParaRPr>
          </a:p>
        </p:txBody>
      </p:sp>
      <p:sp>
        <p:nvSpPr>
          <p:cNvPr id="184" name="Google Shape;184;p19"/>
          <p:cNvSpPr txBox="1"/>
          <p:nvPr/>
        </p:nvSpPr>
        <p:spPr>
          <a:xfrm>
            <a:off x="1768875" y="2825775"/>
            <a:ext cx="2095500" cy="6156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Clr>
                <a:schemeClr val="lt1"/>
              </a:buClr>
              <a:buSzPts val="1400"/>
              <a:buFont typeface="Lato"/>
              <a:buChar char="●"/>
            </a:pPr>
            <a:r>
              <a:rPr lang="en">
                <a:solidFill>
                  <a:schemeClr val="lt1"/>
                </a:solidFill>
                <a:latin typeface="Lato"/>
                <a:ea typeface="Lato"/>
                <a:cs typeface="Lato"/>
                <a:sym typeface="Lato"/>
              </a:rPr>
              <a:t>Iron </a:t>
            </a:r>
            <a:endParaRPr>
              <a:solidFill>
                <a:schemeClr val="lt1"/>
              </a:solidFill>
              <a:latin typeface="Lato"/>
              <a:ea typeface="Lato"/>
              <a:cs typeface="Lato"/>
              <a:sym typeface="Lato"/>
            </a:endParaRPr>
          </a:p>
          <a:p>
            <a:pPr indent="-317500" lvl="0" marL="457200" rtl="0" algn="l">
              <a:spcBef>
                <a:spcPts val="0"/>
              </a:spcBef>
              <a:spcAft>
                <a:spcPts val="0"/>
              </a:spcAft>
              <a:buClr>
                <a:schemeClr val="lt1"/>
              </a:buClr>
              <a:buSzPts val="1400"/>
              <a:buFont typeface="Lato"/>
              <a:buChar char="●"/>
            </a:pPr>
            <a:r>
              <a:rPr lang="en">
                <a:solidFill>
                  <a:schemeClr val="lt1"/>
                </a:solidFill>
                <a:latin typeface="Lato"/>
                <a:ea typeface="Lato"/>
                <a:cs typeface="Lato"/>
                <a:sym typeface="Lato"/>
              </a:rPr>
              <a:t>Aluminium</a:t>
            </a:r>
            <a:endParaRPr>
              <a:solidFill>
                <a:schemeClr val="lt1"/>
              </a:solidFill>
              <a:latin typeface="Lato"/>
              <a:ea typeface="Lato"/>
              <a:cs typeface="Lato"/>
              <a:sym typeface="Lato"/>
            </a:endParaRPr>
          </a:p>
        </p:txBody>
      </p:sp>
      <p:sp>
        <p:nvSpPr>
          <p:cNvPr id="185" name="Google Shape;185;p19"/>
          <p:cNvSpPr txBox="1"/>
          <p:nvPr/>
        </p:nvSpPr>
        <p:spPr>
          <a:xfrm>
            <a:off x="5389575" y="2865450"/>
            <a:ext cx="1778100" cy="12621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Clr>
                <a:schemeClr val="lt1"/>
              </a:buClr>
              <a:buSzPts val="1400"/>
              <a:buFont typeface="Lato"/>
              <a:buChar char="●"/>
            </a:pPr>
            <a:r>
              <a:rPr lang="en">
                <a:solidFill>
                  <a:schemeClr val="lt1"/>
                </a:solidFill>
                <a:latin typeface="Lato"/>
                <a:ea typeface="Lato"/>
                <a:cs typeface="Lato"/>
                <a:sym typeface="Lato"/>
              </a:rPr>
              <a:t>Nitrogen </a:t>
            </a:r>
            <a:endParaRPr>
              <a:solidFill>
                <a:schemeClr val="lt1"/>
              </a:solidFill>
              <a:latin typeface="Lato"/>
              <a:ea typeface="Lato"/>
              <a:cs typeface="Lato"/>
              <a:sym typeface="Lato"/>
            </a:endParaRPr>
          </a:p>
          <a:p>
            <a:pPr indent="-317500" lvl="0" marL="457200" rtl="0" algn="l">
              <a:spcBef>
                <a:spcPts val="0"/>
              </a:spcBef>
              <a:spcAft>
                <a:spcPts val="0"/>
              </a:spcAft>
              <a:buClr>
                <a:schemeClr val="lt1"/>
              </a:buClr>
              <a:buSzPts val="1400"/>
              <a:buFont typeface="Lato"/>
              <a:buChar char="●"/>
            </a:pPr>
            <a:r>
              <a:rPr lang="en">
                <a:solidFill>
                  <a:schemeClr val="lt1"/>
                </a:solidFill>
                <a:latin typeface="Lato"/>
                <a:ea typeface="Lato"/>
                <a:cs typeface="Lato"/>
                <a:sym typeface="Lato"/>
              </a:rPr>
              <a:t>Potash</a:t>
            </a:r>
            <a:endParaRPr>
              <a:solidFill>
                <a:schemeClr val="lt1"/>
              </a:solidFill>
              <a:latin typeface="Lato"/>
              <a:ea typeface="Lato"/>
              <a:cs typeface="Lato"/>
              <a:sym typeface="Lato"/>
            </a:endParaRPr>
          </a:p>
          <a:p>
            <a:pPr indent="-317500" lvl="0" marL="457200" rtl="0" algn="l">
              <a:spcBef>
                <a:spcPts val="0"/>
              </a:spcBef>
              <a:spcAft>
                <a:spcPts val="0"/>
              </a:spcAft>
              <a:buClr>
                <a:schemeClr val="lt1"/>
              </a:buClr>
              <a:buSzPts val="1400"/>
              <a:buFont typeface="Lato"/>
              <a:buChar char="●"/>
            </a:pPr>
            <a:r>
              <a:rPr lang="en">
                <a:solidFill>
                  <a:schemeClr val="lt1"/>
                </a:solidFill>
                <a:latin typeface="Lato"/>
                <a:ea typeface="Lato"/>
                <a:cs typeface="Lato"/>
                <a:sym typeface="Lato"/>
              </a:rPr>
              <a:t>Potassium</a:t>
            </a:r>
            <a:endParaRPr>
              <a:solidFill>
                <a:schemeClr val="lt1"/>
              </a:solidFill>
              <a:latin typeface="Lato"/>
              <a:ea typeface="Lato"/>
              <a:cs typeface="Lato"/>
              <a:sym typeface="Lato"/>
            </a:endParaRPr>
          </a:p>
          <a:p>
            <a:pPr indent="-317500" lvl="0" marL="457200" rtl="0" algn="l">
              <a:spcBef>
                <a:spcPts val="0"/>
              </a:spcBef>
              <a:spcAft>
                <a:spcPts val="0"/>
              </a:spcAft>
              <a:buClr>
                <a:schemeClr val="lt1"/>
              </a:buClr>
              <a:buSzPts val="1400"/>
              <a:buFont typeface="Lato"/>
              <a:buChar char="●"/>
            </a:pPr>
            <a:r>
              <a:rPr lang="en">
                <a:solidFill>
                  <a:schemeClr val="lt1"/>
                </a:solidFill>
                <a:latin typeface="Lato"/>
                <a:ea typeface="Lato"/>
                <a:cs typeface="Lato"/>
                <a:sym typeface="Lato"/>
              </a:rPr>
              <a:t>Lime</a:t>
            </a:r>
            <a:endParaRPr>
              <a:solidFill>
                <a:schemeClr val="lt1"/>
              </a:solidFill>
              <a:latin typeface="Lato"/>
              <a:ea typeface="Lato"/>
              <a:cs typeface="Lato"/>
              <a:sym typeface="Lato"/>
            </a:endParaRPr>
          </a:p>
          <a:p>
            <a:pPr indent="-317500" lvl="0" marL="457200" rtl="0" algn="l">
              <a:spcBef>
                <a:spcPts val="0"/>
              </a:spcBef>
              <a:spcAft>
                <a:spcPts val="0"/>
              </a:spcAft>
              <a:buClr>
                <a:schemeClr val="lt1"/>
              </a:buClr>
              <a:buSzPts val="1400"/>
              <a:buFont typeface="Lato"/>
              <a:buChar char="●"/>
            </a:pPr>
            <a:r>
              <a:rPr lang="en">
                <a:solidFill>
                  <a:schemeClr val="lt1"/>
                </a:solidFill>
                <a:latin typeface="Lato"/>
                <a:ea typeface="Lato"/>
                <a:cs typeface="Lato"/>
                <a:sym typeface="Lato"/>
              </a:rPr>
              <a:t>Humus</a:t>
            </a:r>
            <a:endParaRPr>
              <a:solidFill>
                <a:schemeClr val="lt1"/>
              </a:solidFill>
              <a:latin typeface="Lato"/>
              <a:ea typeface="Lato"/>
              <a:cs typeface="Lato"/>
              <a:sym typeface="La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0"/>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3100"/>
              <a:t>Used For Growing ?</a:t>
            </a:r>
            <a:endParaRPr sz="3100"/>
          </a:p>
        </p:txBody>
      </p:sp>
      <p:sp>
        <p:nvSpPr>
          <p:cNvPr id="191" name="Google Shape;191;p20"/>
          <p:cNvSpPr txBox="1"/>
          <p:nvPr>
            <p:ph idx="1" type="body"/>
          </p:nvPr>
        </p:nvSpPr>
        <p:spPr>
          <a:xfrm>
            <a:off x="1194300" y="1456425"/>
            <a:ext cx="48780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700"/>
              <a:t>They are prone to erosion and degradation due to their position on the landscape. </a:t>
            </a:r>
            <a:endParaRPr sz="1700"/>
          </a:p>
          <a:p>
            <a:pPr indent="0" lvl="0" marL="0" rtl="0" algn="l">
              <a:spcBef>
                <a:spcPts val="1200"/>
              </a:spcBef>
              <a:spcAft>
                <a:spcPts val="1200"/>
              </a:spcAft>
              <a:buNone/>
            </a:pPr>
            <a:r>
              <a:rPr lang="en" sz="1700"/>
              <a:t>After adopting appropriate soil conservation techniques particularly in the hilly areas of Karnataka, Kerala and Tamil Nadu, this soil is very useful for growing tea and coffee. Red laterite soils in Tamil Nadu, Andhra Pradesh and Kerala are more suitable for crops like cashew nut. </a:t>
            </a:r>
            <a:endParaRPr sz="1700"/>
          </a:p>
        </p:txBody>
      </p:sp>
      <p:pic>
        <p:nvPicPr>
          <p:cNvPr id="192" name="Google Shape;192;p20"/>
          <p:cNvPicPr preferRelativeResize="0"/>
          <p:nvPr/>
        </p:nvPicPr>
        <p:blipFill>
          <a:blip r:embed="rId3">
            <a:alphaModFix/>
          </a:blip>
          <a:stretch>
            <a:fillRect/>
          </a:stretch>
        </p:blipFill>
        <p:spPr>
          <a:xfrm>
            <a:off x="6175500" y="789563"/>
            <a:ext cx="2727201" cy="1818134"/>
          </a:xfrm>
          <a:prstGeom prst="rect">
            <a:avLst/>
          </a:prstGeom>
          <a:noFill/>
          <a:ln>
            <a:noFill/>
          </a:ln>
        </p:spPr>
      </p:pic>
      <p:pic>
        <p:nvPicPr>
          <p:cNvPr id="193" name="Google Shape;193;p20"/>
          <p:cNvPicPr preferRelativeResize="0"/>
          <p:nvPr/>
        </p:nvPicPr>
        <p:blipFill>
          <a:blip r:embed="rId4">
            <a:alphaModFix/>
          </a:blip>
          <a:stretch>
            <a:fillRect/>
          </a:stretch>
        </p:blipFill>
        <p:spPr>
          <a:xfrm>
            <a:off x="6175500" y="2958521"/>
            <a:ext cx="2727202" cy="181673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